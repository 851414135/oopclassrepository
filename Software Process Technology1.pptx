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82" r:id="rId4"/>
    <p:sldId id="260" r:id="rId5"/>
    <p:sldId id="264" r:id="rId6"/>
    <p:sldId id="265" r:id="rId7"/>
    <p:sldId id="266" r:id="rId8"/>
    <p:sldId id="267" r:id="rId9"/>
    <p:sldId id="268" r:id="rId10"/>
    <p:sldId id="269" r:id="rId11"/>
    <p:sldId id="270" r:id="rId12"/>
    <p:sldId id="271" r:id="rId13"/>
    <p:sldId id="280" r:id="rId14"/>
    <p:sldId id="276" r:id="rId15"/>
    <p:sldId id="257" r:id="rId16"/>
    <p:sldId id="275" r:id="rId17"/>
    <p:sldId id="261" r:id="rId18"/>
    <p:sldId id="262" r:id="rId19"/>
    <p:sldId id="263" r:id="rId20"/>
    <p:sldId id="258" r:id="rId21"/>
    <p:sldId id="259" r:id="rId22"/>
    <p:sldId id="272" r:id="rId23"/>
    <p:sldId id="279" r:id="rId24"/>
    <p:sldId id="273" r:id="rId25"/>
    <p:sldId id="274" r:id="rId26"/>
    <p:sldId id="277" r:id="rId27"/>
    <p:sldId id="278"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60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B3F80236-81CF-41CA-BD61-A7CD37C9D8A7}" type="datetimeFigureOut">
              <a:rPr lang="zh-CN" altLang="en-US" smtClean="0"/>
              <a:t>2017-9-15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1B0034-A4B9-4961-8B21-4BDC6C07C489}" type="slidenum">
              <a:rPr lang="zh-CN" altLang="en-US" smtClean="0"/>
              <a:t>‹#›</a:t>
            </a:fld>
            <a:endParaRPr lang="zh-CN" altLang="en-US"/>
          </a:p>
        </p:txBody>
      </p:sp>
    </p:spTree>
    <p:extLst>
      <p:ext uri="{BB962C8B-B14F-4D97-AF65-F5344CB8AC3E}">
        <p14:creationId xmlns:p14="http://schemas.microsoft.com/office/powerpoint/2010/main" val="2566975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3F80236-81CF-41CA-BD61-A7CD37C9D8A7}" type="datetimeFigureOut">
              <a:rPr lang="zh-CN" altLang="en-US" smtClean="0"/>
              <a:t>2017-9-15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1B0034-A4B9-4961-8B21-4BDC6C07C489}" type="slidenum">
              <a:rPr lang="zh-CN" altLang="en-US" smtClean="0"/>
              <a:t>‹#›</a:t>
            </a:fld>
            <a:endParaRPr lang="zh-CN" altLang="en-US"/>
          </a:p>
        </p:txBody>
      </p:sp>
    </p:spTree>
    <p:extLst>
      <p:ext uri="{BB962C8B-B14F-4D97-AF65-F5344CB8AC3E}">
        <p14:creationId xmlns:p14="http://schemas.microsoft.com/office/powerpoint/2010/main" val="6274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B3F80236-81CF-41CA-BD61-A7CD37C9D8A7}" type="datetimeFigureOut">
              <a:rPr lang="zh-CN" altLang="en-US" smtClean="0"/>
              <a:t>2017-9-15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1B0034-A4B9-4961-8B21-4BDC6C07C489}" type="slidenum">
              <a:rPr lang="zh-CN" altLang="en-US" smtClean="0"/>
              <a:t>‹#›</a:t>
            </a:fld>
            <a:endParaRPr lang="zh-CN" altLang="en-US"/>
          </a:p>
        </p:txBody>
      </p:sp>
    </p:spTree>
    <p:extLst>
      <p:ext uri="{BB962C8B-B14F-4D97-AF65-F5344CB8AC3E}">
        <p14:creationId xmlns:p14="http://schemas.microsoft.com/office/powerpoint/2010/main" val="2261673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B3F80236-81CF-41CA-BD61-A7CD37C9D8A7}" type="datetimeFigureOut">
              <a:rPr lang="zh-CN" altLang="en-US" smtClean="0"/>
              <a:t>2017-9-15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01B0034-A4B9-4961-8B21-4BDC6C07C489}" type="slidenum">
              <a:rPr lang="zh-CN" altLang="en-US" smtClean="0"/>
              <a:t>‹#›</a:t>
            </a:fld>
            <a:endParaRPr lang="zh-CN" altLang="en-US"/>
          </a:p>
        </p:txBody>
      </p:sp>
    </p:spTree>
    <p:extLst>
      <p:ext uri="{BB962C8B-B14F-4D97-AF65-F5344CB8AC3E}">
        <p14:creationId xmlns:p14="http://schemas.microsoft.com/office/powerpoint/2010/main" val="235109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B3F80236-81CF-41CA-BD61-A7CD37C9D8A7}" type="datetimeFigureOut">
              <a:rPr lang="zh-CN" altLang="en-US" smtClean="0"/>
              <a:t>2017-9-15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01B0034-A4B9-4961-8B21-4BDC6C07C489}" type="slidenum">
              <a:rPr lang="zh-CN" altLang="en-US" smtClean="0"/>
              <a:t>‹#›</a:t>
            </a:fld>
            <a:endParaRPr lang="zh-CN" altLang="en-US"/>
          </a:p>
        </p:txBody>
      </p:sp>
    </p:spTree>
    <p:extLst>
      <p:ext uri="{BB962C8B-B14F-4D97-AF65-F5344CB8AC3E}">
        <p14:creationId xmlns:p14="http://schemas.microsoft.com/office/powerpoint/2010/main" val="1865554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B3F80236-81CF-41CA-BD61-A7CD37C9D8A7}" type="datetimeFigureOut">
              <a:rPr lang="zh-CN" altLang="en-US" smtClean="0"/>
              <a:t>2017-9-15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01B0034-A4B9-4961-8B21-4BDC6C07C489}" type="slidenum">
              <a:rPr lang="zh-CN" altLang="en-US" smtClean="0"/>
              <a:t>‹#›</a:t>
            </a:fld>
            <a:endParaRPr lang="zh-CN" altLang="en-US"/>
          </a:p>
        </p:txBody>
      </p:sp>
    </p:spTree>
    <p:extLst>
      <p:ext uri="{BB962C8B-B14F-4D97-AF65-F5344CB8AC3E}">
        <p14:creationId xmlns:p14="http://schemas.microsoft.com/office/powerpoint/2010/main" val="3640757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3F80236-81CF-41CA-BD61-A7CD37C9D8A7}" type="datetimeFigureOut">
              <a:rPr lang="zh-CN" altLang="en-US" smtClean="0"/>
              <a:t>2017-9-15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01B0034-A4B9-4961-8B21-4BDC6C07C489}" type="slidenum">
              <a:rPr lang="zh-CN" altLang="en-US" smtClean="0"/>
              <a:t>‹#›</a:t>
            </a:fld>
            <a:endParaRPr lang="zh-CN" altLang="en-US"/>
          </a:p>
        </p:txBody>
      </p:sp>
    </p:spTree>
    <p:extLst>
      <p:ext uri="{BB962C8B-B14F-4D97-AF65-F5344CB8AC3E}">
        <p14:creationId xmlns:p14="http://schemas.microsoft.com/office/powerpoint/2010/main" val="2296984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B3F80236-81CF-41CA-BD61-A7CD37C9D8A7}" type="datetimeFigureOut">
              <a:rPr lang="zh-CN" altLang="en-US" smtClean="0"/>
              <a:t>2017-9-15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01B0034-A4B9-4961-8B21-4BDC6C07C489}" type="slidenum">
              <a:rPr lang="zh-CN" altLang="en-US" smtClean="0"/>
              <a:t>‹#›</a:t>
            </a:fld>
            <a:endParaRPr lang="zh-CN" altLang="en-US"/>
          </a:p>
        </p:txBody>
      </p:sp>
    </p:spTree>
    <p:extLst>
      <p:ext uri="{BB962C8B-B14F-4D97-AF65-F5344CB8AC3E}">
        <p14:creationId xmlns:p14="http://schemas.microsoft.com/office/powerpoint/2010/main" val="745715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B3F80236-81CF-41CA-BD61-A7CD37C9D8A7}" type="datetimeFigureOut">
              <a:rPr lang="zh-CN" altLang="en-US" smtClean="0"/>
              <a:t>2017-9-15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01B0034-A4B9-4961-8B21-4BDC6C07C489}" type="slidenum">
              <a:rPr lang="zh-CN" altLang="en-US" smtClean="0"/>
              <a:t>‹#›</a:t>
            </a:fld>
            <a:endParaRPr lang="zh-CN" altLang="en-US"/>
          </a:p>
        </p:txBody>
      </p:sp>
    </p:spTree>
    <p:extLst>
      <p:ext uri="{BB962C8B-B14F-4D97-AF65-F5344CB8AC3E}">
        <p14:creationId xmlns:p14="http://schemas.microsoft.com/office/powerpoint/2010/main" val="697421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3F80236-81CF-41CA-BD61-A7CD37C9D8A7}" type="datetimeFigureOut">
              <a:rPr lang="zh-CN" altLang="en-US" smtClean="0"/>
              <a:t>2017-9-15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1B0034-A4B9-4961-8B21-4BDC6C07C489}" type="slidenum">
              <a:rPr lang="zh-CN" altLang="en-US" smtClean="0"/>
              <a:t>‹#›</a:t>
            </a:fld>
            <a:endParaRPr lang="zh-CN" altLang="en-US"/>
          </a:p>
        </p:txBody>
      </p:sp>
    </p:spTree>
    <p:extLst>
      <p:ext uri="{BB962C8B-B14F-4D97-AF65-F5344CB8AC3E}">
        <p14:creationId xmlns:p14="http://schemas.microsoft.com/office/powerpoint/2010/main" val="2828412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3F80236-81CF-41CA-BD61-A7CD37C9D8A7}" type="datetimeFigureOut">
              <a:rPr lang="zh-CN" altLang="en-US" smtClean="0"/>
              <a:t>2017-9-15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1B0034-A4B9-4961-8B21-4BDC6C07C489}" type="slidenum">
              <a:rPr lang="zh-CN" altLang="en-US" smtClean="0"/>
              <a:t>‹#›</a:t>
            </a:fld>
            <a:endParaRPr lang="zh-CN" altLang="en-US"/>
          </a:p>
        </p:txBody>
      </p:sp>
    </p:spTree>
    <p:extLst>
      <p:ext uri="{BB962C8B-B14F-4D97-AF65-F5344CB8AC3E}">
        <p14:creationId xmlns:p14="http://schemas.microsoft.com/office/powerpoint/2010/main" val="2724899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F80236-81CF-41CA-BD61-A7CD37C9D8A7}" type="datetimeFigureOut">
              <a:rPr lang="zh-CN" altLang="en-US" smtClean="0"/>
              <a:t>2017-9-15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1B0034-A4B9-4961-8B21-4BDC6C07C489}" type="slidenum">
              <a:rPr lang="zh-CN" altLang="en-US" smtClean="0"/>
              <a:t>‹#›</a:t>
            </a:fld>
            <a:endParaRPr lang="zh-CN" altLang="en-US"/>
          </a:p>
        </p:txBody>
      </p:sp>
    </p:spTree>
    <p:extLst>
      <p:ext uri="{BB962C8B-B14F-4D97-AF65-F5344CB8AC3E}">
        <p14:creationId xmlns:p14="http://schemas.microsoft.com/office/powerpoint/2010/main" val="1378334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smtClean="0"/>
              <a:t>Software Process Technology</a:t>
            </a:r>
            <a:endParaRPr lang="zh-CN" altLang="en-US" dirty="0"/>
          </a:p>
        </p:txBody>
      </p:sp>
      <p:sp>
        <p:nvSpPr>
          <p:cNvPr id="3" name="副标题 2"/>
          <p:cNvSpPr>
            <a:spLocks noGrp="1"/>
          </p:cNvSpPr>
          <p:nvPr>
            <p:ph type="subTitle" idx="1"/>
          </p:nvPr>
        </p:nvSpPr>
        <p:spPr/>
        <p:txBody>
          <a:bodyPr/>
          <a:lstStyle/>
          <a:p>
            <a:r>
              <a:rPr lang="en-US" altLang="zh-CN" dirty="0" err="1" smtClean="0"/>
              <a:t>Minshuo</a:t>
            </a:r>
            <a:r>
              <a:rPr lang="en-US" altLang="zh-CN" dirty="0" smtClean="0"/>
              <a:t> Li</a:t>
            </a:r>
            <a:endParaRPr lang="zh-CN" altLang="en-US" dirty="0"/>
          </a:p>
        </p:txBody>
      </p:sp>
    </p:spTree>
    <p:extLst>
      <p:ext uri="{BB962C8B-B14F-4D97-AF65-F5344CB8AC3E}">
        <p14:creationId xmlns:p14="http://schemas.microsoft.com/office/powerpoint/2010/main" val="14479576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Score percentage</a:t>
            </a:r>
            <a:endParaRPr lang="zh-CN" altLang="en-US" dirty="0"/>
          </a:p>
        </p:txBody>
      </p:sp>
      <p:sp>
        <p:nvSpPr>
          <p:cNvPr id="3" name="内容占位符 2"/>
          <p:cNvSpPr>
            <a:spLocks noGrp="1"/>
          </p:cNvSpPr>
          <p:nvPr>
            <p:ph idx="1"/>
          </p:nvPr>
        </p:nvSpPr>
        <p:spPr/>
        <p:txBody>
          <a:bodyPr/>
          <a:lstStyle/>
          <a:p>
            <a:r>
              <a:rPr lang="en-US" altLang="zh-CN" dirty="0" smtClean="0"/>
              <a:t>Attendance 20%</a:t>
            </a:r>
          </a:p>
          <a:p>
            <a:r>
              <a:rPr lang="en-US" altLang="zh-CN" dirty="0" smtClean="0"/>
              <a:t>Personal work 40%</a:t>
            </a:r>
          </a:p>
          <a:p>
            <a:r>
              <a:rPr lang="en-US" altLang="zh-CN" dirty="0" smtClean="0"/>
              <a:t>Team work / final exam 40%</a:t>
            </a:r>
            <a:endParaRPr lang="zh-CN" altLang="en-US" dirty="0"/>
          </a:p>
        </p:txBody>
      </p:sp>
    </p:spTree>
    <p:extLst>
      <p:ext uri="{BB962C8B-B14F-4D97-AF65-F5344CB8AC3E}">
        <p14:creationId xmlns:p14="http://schemas.microsoft.com/office/powerpoint/2010/main" val="159897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task1</a:t>
            </a:r>
            <a:endParaRPr lang="zh-CN" altLang="en-US" dirty="0"/>
          </a:p>
        </p:txBody>
      </p:sp>
      <p:sp>
        <p:nvSpPr>
          <p:cNvPr id="3" name="内容占位符 2"/>
          <p:cNvSpPr>
            <a:spLocks noGrp="1"/>
          </p:cNvSpPr>
          <p:nvPr>
            <p:ph idx="1"/>
          </p:nvPr>
        </p:nvSpPr>
        <p:spPr/>
        <p:txBody>
          <a:bodyPr/>
          <a:lstStyle/>
          <a:p>
            <a:r>
              <a:rPr lang="en-US" altLang="zh-CN" dirty="0" smtClean="0"/>
              <a:t>Make a team.(&lt;=4 person) </a:t>
            </a:r>
          </a:p>
          <a:p>
            <a:r>
              <a:rPr lang="en-US" altLang="zh-CN" dirty="0" smtClean="0"/>
              <a:t>Give the principle of  your team.(in </a:t>
            </a:r>
            <a:r>
              <a:rPr lang="en-US" altLang="zh-CN" dirty="0" err="1" smtClean="0"/>
              <a:t>ppt</a:t>
            </a:r>
            <a:r>
              <a:rPr lang="en-US" altLang="zh-CN" dirty="0" smtClean="0"/>
              <a:t>)</a:t>
            </a:r>
          </a:p>
          <a:p>
            <a:r>
              <a:rPr lang="en-US" altLang="zh-CN" dirty="0" smtClean="0"/>
              <a:t>Read the material .(CMM) </a:t>
            </a:r>
          </a:p>
          <a:p>
            <a:r>
              <a:rPr lang="en-US" altLang="zh-CN" dirty="0" smtClean="0"/>
              <a:t>Give the abstract of the material.(Every member should finish one part(in doc),and then give the total abstract as your team’s work )</a:t>
            </a:r>
            <a:endParaRPr lang="zh-CN" altLang="en-US" dirty="0"/>
          </a:p>
        </p:txBody>
      </p:sp>
    </p:spTree>
    <p:extLst>
      <p:ext uri="{BB962C8B-B14F-4D97-AF65-F5344CB8AC3E}">
        <p14:creationId xmlns:p14="http://schemas.microsoft.com/office/powerpoint/2010/main" val="3041909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smtClean="0"/>
              <a:t>Ch1. Introduction</a:t>
            </a:r>
            <a:endParaRPr lang="zh-CN" altLang="en-US" dirty="0"/>
          </a:p>
        </p:txBody>
      </p:sp>
      <p:sp>
        <p:nvSpPr>
          <p:cNvPr id="8" name="内容占位符 7"/>
          <p:cNvSpPr>
            <a:spLocks noGrp="1"/>
          </p:cNvSpPr>
          <p:nvPr>
            <p:ph idx="1"/>
          </p:nvPr>
        </p:nvSpPr>
        <p:spPr>
          <a:xfrm>
            <a:off x="457200" y="1600200"/>
            <a:ext cx="8579296" cy="4525963"/>
          </a:xfrm>
        </p:spPr>
        <p:txBody>
          <a:bodyPr/>
          <a:lstStyle/>
          <a:p>
            <a:pPr marL="0" indent="0">
              <a:buNone/>
            </a:pPr>
            <a:r>
              <a:rPr lang="en-US" altLang="zh-CN" dirty="0" smtClean="0"/>
              <a:t>1.1 Objectives of This Chapter</a:t>
            </a:r>
          </a:p>
          <a:p>
            <a:pPr marL="0" indent="0">
              <a:buNone/>
            </a:pPr>
            <a:r>
              <a:rPr lang="en-US" altLang="zh-CN" dirty="0" smtClean="0"/>
              <a:t>1.2 Motivation</a:t>
            </a:r>
          </a:p>
          <a:p>
            <a:pPr marL="0" indent="0">
              <a:buNone/>
            </a:pPr>
            <a:r>
              <a:rPr lang="en-US" altLang="zh-CN" dirty="0" smtClean="0"/>
              <a:t>1.3Terminology</a:t>
            </a:r>
          </a:p>
          <a:p>
            <a:pPr marL="0" indent="0">
              <a:buNone/>
            </a:pPr>
            <a:r>
              <a:rPr lang="en-US" altLang="zh-CN" dirty="0" smtClean="0"/>
              <a:t>1.4 Software Process Modeling and Improvement</a:t>
            </a:r>
          </a:p>
          <a:p>
            <a:pPr marL="0" indent="0">
              <a:buNone/>
            </a:pPr>
            <a:r>
              <a:rPr lang="en-US" altLang="zh-CN" dirty="0" smtClean="0"/>
              <a:t>1.5 Process Modeling Goals and Benefits</a:t>
            </a:r>
            <a:endParaRPr lang="zh-CN" altLang="en-US" dirty="0"/>
          </a:p>
        </p:txBody>
      </p:sp>
    </p:spTree>
    <p:extLst>
      <p:ext uri="{BB962C8B-B14F-4D97-AF65-F5344CB8AC3E}">
        <p14:creationId xmlns:p14="http://schemas.microsoft.com/office/powerpoint/2010/main" val="42691967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1.1 Objectives of This Chapter</a:t>
            </a:r>
            <a:endParaRPr lang="zh-CN" altLang="en-US" dirty="0"/>
          </a:p>
        </p:txBody>
      </p:sp>
      <p:sp>
        <p:nvSpPr>
          <p:cNvPr id="3" name="内容占位符 2"/>
          <p:cNvSpPr>
            <a:spLocks noGrp="1"/>
          </p:cNvSpPr>
          <p:nvPr>
            <p:ph idx="1"/>
          </p:nvPr>
        </p:nvSpPr>
        <p:spPr/>
        <p:txBody>
          <a:bodyPr>
            <a:normAutofit fontScale="92500" lnSpcReduction="20000"/>
          </a:bodyPr>
          <a:lstStyle/>
          <a:p>
            <a:pPr marL="0" indent="0">
              <a:buNone/>
            </a:pPr>
            <a:r>
              <a:rPr lang="en-US" altLang="zh-CN" dirty="0" smtClean="0"/>
              <a:t>– Understand the reasons why software processes are important for software development projects and organizational learning</a:t>
            </a:r>
          </a:p>
          <a:p>
            <a:pPr marL="0" indent="0">
              <a:buNone/>
            </a:pPr>
            <a:r>
              <a:rPr lang="en-US" altLang="zh-CN" dirty="0" smtClean="0"/>
              <a:t>– Name the different goals of software process modeling</a:t>
            </a:r>
          </a:p>
          <a:p>
            <a:pPr marL="0" indent="0">
              <a:buNone/>
            </a:pPr>
            <a:r>
              <a:rPr lang="en-US" altLang="zh-CN" dirty="0" smtClean="0"/>
              <a:t>– Appreciate the need for software process modeling, process management, and process improvement in organizations that are developing, operating, or maintaining software-based systems or services </a:t>
            </a:r>
          </a:p>
          <a:p>
            <a:pPr marL="0" indent="0">
              <a:buNone/>
            </a:pPr>
            <a:r>
              <a:rPr lang="en-US" altLang="zh-CN" dirty="0" smtClean="0"/>
              <a:t>– Explain the basic terms</a:t>
            </a:r>
            <a:endParaRPr lang="zh-CN" altLang="en-US" dirty="0"/>
          </a:p>
        </p:txBody>
      </p:sp>
    </p:spTree>
    <p:extLst>
      <p:ext uri="{BB962C8B-B14F-4D97-AF65-F5344CB8AC3E}">
        <p14:creationId xmlns:p14="http://schemas.microsoft.com/office/powerpoint/2010/main" val="12431273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1.2 Motivation</a:t>
            </a:r>
            <a:endParaRPr lang="zh-CN" altLang="en-US" dirty="0"/>
          </a:p>
        </p:txBody>
      </p:sp>
      <p:sp>
        <p:nvSpPr>
          <p:cNvPr id="3" name="内容占位符 2"/>
          <p:cNvSpPr>
            <a:spLocks noGrp="1"/>
          </p:cNvSpPr>
          <p:nvPr>
            <p:ph idx="1"/>
          </p:nvPr>
        </p:nvSpPr>
        <p:spPr/>
        <p:txBody>
          <a:bodyPr/>
          <a:lstStyle/>
          <a:p>
            <a:r>
              <a:rPr lang="en-US" altLang="zh-CN" dirty="0" smtClean="0"/>
              <a:t>why organizations should place an emphasis on process management?</a:t>
            </a:r>
          </a:p>
          <a:p>
            <a:endParaRPr lang="zh-CN" altLang="en-US" dirty="0"/>
          </a:p>
        </p:txBody>
      </p:sp>
    </p:spTree>
    <p:extLst>
      <p:ext uri="{BB962C8B-B14F-4D97-AF65-F5344CB8AC3E}">
        <p14:creationId xmlns:p14="http://schemas.microsoft.com/office/powerpoint/2010/main" val="41706799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1.2 Motivation</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dirty="0" smtClean="0"/>
              <a:t>Software and software-intensive systems are developed with hundreds or thousands of people in teams.</a:t>
            </a:r>
          </a:p>
          <a:p>
            <a:r>
              <a:rPr lang="en-US" altLang="zh-CN" dirty="0" smtClean="0"/>
              <a:t>Large systems usually consist of components from different disciplines (e.g., electrical engineering, mechanical engineering, software engineering).</a:t>
            </a:r>
          </a:p>
          <a:p>
            <a:r>
              <a:rPr lang="en-US" altLang="zh-CN" dirty="0" smtClean="0"/>
              <a:t>One of today’s most important challenges is that software is taking over more and more critical functionality.</a:t>
            </a:r>
            <a:endParaRPr lang="zh-CN" altLang="en-US" dirty="0"/>
          </a:p>
        </p:txBody>
      </p:sp>
    </p:spTree>
    <p:extLst>
      <p:ext uri="{BB962C8B-B14F-4D97-AF65-F5344CB8AC3E}">
        <p14:creationId xmlns:p14="http://schemas.microsoft.com/office/powerpoint/2010/main" val="38585856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dirty="0" smtClean="0"/>
              <a:t>1.2 Motivation</a:t>
            </a:r>
            <a:endParaRPr lang="zh-CN" altLang="en-US" dirty="0"/>
          </a:p>
        </p:txBody>
      </p:sp>
      <p:sp>
        <p:nvSpPr>
          <p:cNvPr id="3" name="内容占位符 2"/>
          <p:cNvSpPr>
            <a:spLocks noGrp="1"/>
          </p:cNvSpPr>
          <p:nvPr>
            <p:ph idx="1"/>
          </p:nvPr>
        </p:nvSpPr>
        <p:spPr>
          <a:xfrm>
            <a:off x="457200" y="1600200"/>
            <a:ext cx="8291264" cy="4525963"/>
          </a:xfrm>
        </p:spPr>
        <p:txBody>
          <a:bodyPr>
            <a:normAutofit fontScale="77500" lnSpcReduction="20000"/>
          </a:bodyPr>
          <a:lstStyle/>
          <a:p>
            <a:pPr marL="0" indent="0">
              <a:buNone/>
            </a:pPr>
            <a:r>
              <a:rPr lang="en-US" altLang="zh-CN" dirty="0" smtClean="0"/>
              <a:t>All these challenges and demands on software development, operation, and maintenance require a significant transition from craft-based software development to more engineering-style software development. This addresses especially the</a:t>
            </a:r>
          </a:p>
          <a:p>
            <a:pPr marL="0" indent="0">
              <a:buNone/>
            </a:pPr>
            <a:r>
              <a:rPr lang="en-US" altLang="zh-CN" dirty="0" smtClean="0"/>
              <a:t>following principles:</a:t>
            </a:r>
          </a:p>
          <a:p>
            <a:pPr marL="0" indent="0">
              <a:buNone/>
            </a:pPr>
            <a:r>
              <a:rPr lang="en-US" altLang="zh-CN" dirty="0" smtClean="0"/>
              <a:t>– Planning is based on experience</a:t>
            </a:r>
          </a:p>
          <a:p>
            <a:pPr marL="0" indent="0">
              <a:buNone/>
            </a:pPr>
            <a:r>
              <a:rPr lang="en-US" altLang="zh-CN" dirty="0" smtClean="0"/>
              <a:t>– Project execution is goal- and value-oriented and adheres to defined processes</a:t>
            </a:r>
          </a:p>
          <a:p>
            <a:pPr marL="0" indent="0">
              <a:buNone/>
            </a:pPr>
            <a:r>
              <a:rPr lang="en-US" altLang="zh-CN" dirty="0" smtClean="0"/>
              <a:t>– Projects are traceable and controllable</a:t>
            </a:r>
          </a:p>
          <a:p>
            <a:pPr marL="0" indent="0">
              <a:buNone/>
            </a:pPr>
            <a:r>
              <a:rPr lang="en-US" altLang="zh-CN" dirty="0" smtClean="0"/>
              <a:t>– Relevant process effects are predictable</a:t>
            </a:r>
          </a:p>
          <a:p>
            <a:pPr marL="0" indent="0">
              <a:buNone/>
            </a:pPr>
            <a:r>
              <a:rPr lang="en-US" altLang="zh-CN" dirty="0" smtClean="0"/>
              <a:t>– Learning and improvement cycles are established</a:t>
            </a:r>
            <a:endParaRPr lang="zh-CN" altLang="en-US" dirty="0"/>
          </a:p>
        </p:txBody>
      </p:sp>
    </p:spTree>
    <p:extLst>
      <p:ext uri="{BB962C8B-B14F-4D97-AF65-F5344CB8AC3E}">
        <p14:creationId xmlns:p14="http://schemas.microsoft.com/office/powerpoint/2010/main" val="20359988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1.2 Motivation</a:t>
            </a:r>
            <a:endParaRPr lang="zh-CN" altLang="en-US" dirty="0"/>
          </a:p>
        </p:txBody>
      </p:sp>
      <p:sp>
        <p:nvSpPr>
          <p:cNvPr id="3" name="内容占位符 2"/>
          <p:cNvSpPr>
            <a:spLocks noGrp="1"/>
          </p:cNvSpPr>
          <p:nvPr>
            <p:ph idx="1"/>
          </p:nvPr>
        </p:nvSpPr>
        <p:spPr/>
        <p:txBody>
          <a:bodyPr>
            <a:noAutofit/>
          </a:bodyPr>
          <a:lstStyle/>
          <a:p>
            <a:pPr marL="0" indent="0">
              <a:buNone/>
            </a:pPr>
            <a:r>
              <a:rPr lang="en-US" altLang="zh-CN" dirty="0" smtClean="0"/>
              <a:t>Essential elements of several process models are:</a:t>
            </a:r>
          </a:p>
          <a:p>
            <a:pPr marL="0" indent="0">
              <a:buNone/>
            </a:pPr>
            <a:r>
              <a:rPr lang="en-US" altLang="zh-CN" dirty="0" smtClean="0"/>
              <a:t>– With respect to processes:</a:t>
            </a:r>
          </a:p>
          <a:p>
            <a:pPr marL="914400" lvl="1" indent="-514350">
              <a:buFont typeface="+mj-lt"/>
              <a:buAutoNum type="arabicPeriod"/>
            </a:pPr>
            <a:r>
              <a:rPr lang="en-US" altLang="zh-CN" dirty="0" smtClean="0"/>
              <a:t>defined processes  prediction models  (with respect to effort, schedule, quality),</a:t>
            </a:r>
          </a:p>
          <a:p>
            <a:pPr marL="914400" lvl="1" indent="-514350">
              <a:buFont typeface="+mj-lt"/>
              <a:buAutoNum type="arabicPeriod"/>
            </a:pPr>
            <a:r>
              <a:rPr lang="en-US" altLang="zh-CN" dirty="0" smtClean="0"/>
              <a:t>analytical and constructive quality assurance processes throughout the whole lifecycle,</a:t>
            </a:r>
          </a:p>
          <a:p>
            <a:pPr marL="914400" lvl="1" indent="-514350">
              <a:buFont typeface="+mj-lt"/>
              <a:buAutoNum type="arabicPeriod"/>
            </a:pPr>
            <a:r>
              <a:rPr lang="en-US" altLang="zh-CN" dirty="0" smtClean="0"/>
              <a:t>understanding of the context-dependent aspects of key methods and techniques</a:t>
            </a:r>
          </a:p>
        </p:txBody>
      </p:sp>
    </p:spTree>
    <p:extLst>
      <p:ext uri="{BB962C8B-B14F-4D97-AF65-F5344CB8AC3E}">
        <p14:creationId xmlns:p14="http://schemas.microsoft.com/office/powerpoint/2010/main" val="40239699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1.2 Motivation</a:t>
            </a:r>
            <a:endParaRPr lang="zh-CN" altLang="en-US" dirty="0"/>
          </a:p>
        </p:txBody>
      </p:sp>
      <p:sp>
        <p:nvSpPr>
          <p:cNvPr id="3" name="内容占位符 2"/>
          <p:cNvSpPr>
            <a:spLocks noGrp="1"/>
          </p:cNvSpPr>
          <p:nvPr>
            <p:ph idx="1"/>
          </p:nvPr>
        </p:nvSpPr>
        <p:spPr/>
        <p:txBody>
          <a:bodyPr>
            <a:normAutofit fontScale="92500" lnSpcReduction="20000"/>
          </a:bodyPr>
          <a:lstStyle/>
          <a:p>
            <a:pPr marL="0" indent="0">
              <a:buNone/>
            </a:pPr>
            <a:r>
              <a:rPr lang="en-US" altLang="zh-CN" dirty="0" smtClean="0"/>
              <a:t>–With respect to products: </a:t>
            </a:r>
          </a:p>
          <a:p>
            <a:pPr marL="0" indent="0">
              <a:buNone/>
            </a:pPr>
            <a:r>
              <a:rPr lang="en-US" altLang="zh-CN" dirty="0" smtClean="0"/>
              <a:t>adequate documentation, traceable documentation, evolvable architecture</a:t>
            </a:r>
          </a:p>
          <a:p>
            <a:pPr marL="0" indent="0">
              <a:buNone/>
            </a:pPr>
            <a:r>
              <a:rPr lang="en-US" altLang="zh-CN" dirty="0" smtClean="0"/>
              <a:t>– With respect to management: </a:t>
            </a:r>
          </a:p>
          <a:p>
            <a:pPr marL="0" indent="0">
              <a:buNone/>
            </a:pPr>
            <a:r>
              <a:rPr lang="en-US" altLang="zh-CN" dirty="0" smtClean="0"/>
              <a:t>adequate workforce capabilities and staffing, sufficient continuing education and training, guaranteeing the sustainability of core competencies</a:t>
            </a:r>
          </a:p>
          <a:p>
            <a:pPr marL="0" indent="0">
              <a:buNone/>
            </a:pPr>
            <a:r>
              <a:rPr lang="en-US" altLang="zh-CN" dirty="0" smtClean="0"/>
              <a:t>– With respect to organizational improvement: traceable quality guidelines, comprehensive configuration management, learning organization</a:t>
            </a:r>
          </a:p>
          <a:p>
            <a:endParaRPr lang="zh-CN" altLang="en-US" dirty="0"/>
          </a:p>
        </p:txBody>
      </p:sp>
    </p:spTree>
    <p:extLst>
      <p:ext uri="{BB962C8B-B14F-4D97-AF65-F5344CB8AC3E}">
        <p14:creationId xmlns:p14="http://schemas.microsoft.com/office/powerpoint/2010/main" val="21432146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1.2 Motivation</a:t>
            </a:r>
            <a:endParaRPr lang="zh-CN" altLang="en-US" dirty="0"/>
          </a:p>
        </p:txBody>
      </p:sp>
      <p:sp>
        <p:nvSpPr>
          <p:cNvPr id="3" name="内容占位符 2"/>
          <p:cNvSpPr>
            <a:spLocks noGrp="1"/>
          </p:cNvSpPr>
          <p:nvPr>
            <p:ph idx="1"/>
          </p:nvPr>
        </p:nvSpPr>
        <p:spPr/>
        <p:txBody>
          <a:bodyPr/>
          <a:lstStyle/>
          <a:p>
            <a:pPr marL="342900" lvl="1" indent="-342900">
              <a:buFont typeface="Arial" panose="020B0604020202020204" pitchFamily="34" charset="0"/>
              <a:buChar char="•"/>
            </a:pPr>
            <a:r>
              <a:rPr lang="en-US" altLang="zh-CN" dirty="0" smtClean="0"/>
              <a:t>Insufficient process management can lead to serious failures, including inefficient  productivity, increased time to market, and decreased workforce motivation.</a:t>
            </a:r>
            <a:endParaRPr lang="zh-CN" altLang="en-US" dirty="0" smtClean="0"/>
          </a:p>
        </p:txBody>
      </p:sp>
    </p:spTree>
    <p:extLst>
      <p:ext uri="{BB962C8B-B14F-4D97-AF65-F5344CB8AC3E}">
        <p14:creationId xmlns:p14="http://schemas.microsoft.com/office/powerpoint/2010/main" val="23211066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340768"/>
            <a:ext cx="8219256" cy="4785395"/>
          </a:xfrm>
        </p:spPr>
        <p:txBody>
          <a:bodyPr>
            <a:noAutofit/>
          </a:bodyPr>
          <a:lstStyle/>
          <a:p>
            <a:pPr marL="0" indent="0">
              <a:buNone/>
            </a:pPr>
            <a:r>
              <a:rPr lang="en-US" altLang="zh-CN" sz="2400" dirty="0" smtClean="0"/>
              <a:t>If no adequate process management is established, this typically causes problems such as:</a:t>
            </a:r>
          </a:p>
          <a:p>
            <a:pPr marL="0" indent="0">
              <a:buNone/>
            </a:pPr>
            <a:r>
              <a:rPr lang="en-US" altLang="zh-CN" sz="2400" dirty="0" smtClean="0"/>
              <a:t>– Unnecessary rework</a:t>
            </a:r>
          </a:p>
          <a:p>
            <a:pPr marL="0" indent="0">
              <a:buNone/>
            </a:pPr>
            <a:r>
              <a:rPr lang="en-US" altLang="zh-CN" sz="2400" dirty="0" smtClean="0"/>
              <a:t>– Deviations from plan are detected too late</a:t>
            </a:r>
          </a:p>
          <a:p>
            <a:pPr marL="0" indent="0">
              <a:buNone/>
            </a:pPr>
            <a:r>
              <a:rPr lang="en-US" altLang="zh-CN" sz="2400" dirty="0" smtClean="0"/>
              <a:t>– Confusion regarding roles and responsibilities</a:t>
            </a:r>
          </a:p>
          <a:p>
            <a:pPr marL="0" indent="0">
              <a:buNone/>
            </a:pPr>
            <a:r>
              <a:rPr lang="en-US" altLang="zh-CN" sz="2400" dirty="0" smtClean="0"/>
              <a:t>– Documents cannot be found when needed because they are not associated with process steps</a:t>
            </a:r>
          </a:p>
          <a:p>
            <a:pPr marL="0" indent="0">
              <a:buNone/>
            </a:pPr>
            <a:r>
              <a:rPr lang="en-US" altLang="zh-CN" sz="2400" dirty="0" smtClean="0"/>
              <a:t>– Variations in process execution</a:t>
            </a:r>
          </a:p>
        </p:txBody>
      </p:sp>
    </p:spTree>
    <p:extLst>
      <p:ext uri="{BB962C8B-B14F-4D97-AF65-F5344CB8AC3E}">
        <p14:creationId xmlns:p14="http://schemas.microsoft.com/office/powerpoint/2010/main" val="42014337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10000"/>
          </a:bodyPr>
          <a:lstStyle/>
          <a:p>
            <a:r>
              <a:rPr lang="en-US" altLang="zh-CN" dirty="0" smtClean="0"/>
              <a:t>– Permanently incomplete and inconsistent process documentation</a:t>
            </a:r>
          </a:p>
          <a:p>
            <a:r>
              <a:rPr lang="en-US" altLang="zh-CN" dirty="0" smtClean="0"/>
              <a:t>– Deferred certification because appropriate process documentation cannot be produced promptly</a:t>
            </a:r>
          </a:p>
          <a:p>
            <a:r>
              <a:rPr lang="en-US" altLang="zh-CN" dirty="0" smtClean="0"/>
              <a:t>– Performance inefficiency (due to “unfit for purpose” processes)</a:t>
            </a:r>
          </a:p>
          <a:p>
            <a:r>
              <a:rPr lang="en-US" altLang="zh-CN" dirty="0" smtClean="0"/>
              <a:t>– Uncertain execution and dependence on individual efforts (due to vague and incomplete process descriptions)</a:t>
            </a:r>
          </a:p>
          <a:p>
            <a:r>
              <a:rPr lang="en-US" altLang="zh-CN" dirty="0" smtClean="0"/>
              <a:t>– Inefficient division of work and double work (due to poorly defined interfaces)</a:t>
            </a:r>
          </a:p>
          <a:p>
            <a:endParaRPr lang="zh-CN" altLang="en-US" dirty="0"/>
          </a:p>
        </p:txBody>
      </p:sp>
    </p:spTree>
    <p:extLst>
      <p:ext uri="{BB962C8B-B14F-4D97-AF65-F5344CB8AC3E}">
        <p14:creationId xmlns:p14="http://schemas.microsoft.com/office/powerpoint/2010/main" val="3865190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1.3. Terminology</a:t>
            </a:r>
            <a:endParaRPr lang="zh-CN" altLang="en-US" dirty="0"/>
          </a:p>
        </p:txBody>
      </p:sp>
      <p:sp>
        <p:nvSpPr>
          <p:cNvPr id="3" name="内容占位符 2"/>
          <p:cNvSpPr>
            <a:spLocks noGrp="1"/>
          </p:cNvSpPr>
          <p:nvPr>
            <p:ph idx="1"/>
          </p:nvPr>
        </p:nvSpPr>
        <p:spPr/>
        <p:txBody>
          <a:bodyPr/>
          <a:lstStyle/>
          <a:p>
            <a:r>
              <a:rPr lang="en-US" altLang="zh-CN" dirty="0" smtClean="0"/>
              <a:t>Definition (process)</a:t>
            </a:r>
          </a:p>
          <a:p>
            <a:r>
              <a:rPr lang="en-US" altLang="zh-CN" dirty="0" smtClean="0"/>
              <a:t> A process is a set of practices or tasks performed to achieve a given purpose. It may include tools, methods, material, and people.</a:t>
            </a:r>
            <a:endParaRPr lang="zh-CN" altLang="en-US" dirty="0"/>
          </a:p>
        </p:txBody>
      </p:sp>
    </p:spTree>
    <p:extLst>
      <p:ext uri="{BB962C8B-B14F-4D97-AF65-F5344CB8AC3E}">
        <p14:creationId xmlns:p14="http://schemas.microsoft.com/office/powerpoint/2010/main" val="30616624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1.3. Terminology</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smtClean="0"/>
              <a:t>Definition (software process)</a:t>
            </a:r>
          </a:p>
          <a:p>
            <a:r>
              <a:rPr lang="en-US" altLang="zh-CN" dirty="0" smtClean="0"/>
              <a:t>A software process is a goal-oriented activity in the context of engineering-style software development.</a:t>
            </a:r>
          </a:p>
          <a:p>
            <a:r>
              <a:rPr lang="en-US" altLang="zh-CN" dirty="0" smtClean="0"/>
              <a:t>Examples :</a:t>
            </a:r>
          </a:p>
          <a:p>
            <a:pPr lvl="1"/>
            <a:r>
              <a:rPr lang="en-US" altLang="zh-CN" dirty="0" smtClean="0"/>
              <a:t>creation of a product (e.g., coding of system component no. 15 in project Alpha at company </a:t>
            </a:r>
            <a:r>
              <a:rPr lang="en-US" altLang="zh-CN" dirty="0" err="1" smtClean="0"/>
              <a:t>ACSoft</a:t>
            </a:r>
            <a:r>
              <a:rPr lang="en-US" altLang="zh-CN" dirty="0" smtClean="0"/>
              <a:t>)</a:t>
            </a:r>
          </a:p>
          <a:p>
            <a:pPr lvl="1"/>
            <a:r>
              <a:rPr lang="en-US" altLang="zh-CN" dirty="0" smtClean="0"/>
              <a:t>testing of a system</a:t>
            </a:r>
          </a:p>
          <a:p>
            <a:pPr lvl="1"/>
            <a:r>
              <a:rPr lang="en-US" altLang="zh-CN" dirty="0" smtClean="0"/>
              <a:t>measurement of a code module</a:t>
            </a:r>
          </a:p>
          <a:p>
            <a:pPr lvl="1"/>
            <a:r>
              <a:rPr lang="en-US" altLang="zh-CN" dirty="0" smtClean="0"/>
              <a:t>planning of a project</a:t>
            </a:r>
          </a:p>
          <a:p>
            <a:pPr lvl="1"/>
            <a:r>
              <a:rPr lang="en-US" altLang="zh-CN" dirty="0" smtClean="0"/>
              <a:t>packaging of experience for reuse in future projects.</a:t>
            </a:r>
          </a:p>
        </p:txBody>
      </p:sp>
    </p:spTree>
    <p:extLst>
      <p:ext uri="{BB962C8B-B14F-4D97-AF65-F5344CB8AC3E}">
        <p14:creationId xmlns:p14="http://schemas.microsoft.com/office/powerpoint/2010/main" val="6316282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1.3. Terminology</a:t>
            </a:r>
            <a:endParaRPr lang="zh-CN" altLang="en-US" dirty="0"/>
          </a:p>
        </p:txBody>
      </p:sp>
      <p:sp>
        <p:nvSpPr>
          <p:cNvPr id="3" name="内容占位符 2"/>
          <p:cNvSpPr>
            <a:spLocks noGrp="1"/>
          </p:cNvSpPr>
          <p:nvPr>
            <p:ph idx="1"/>
          </p:nvPr>
        </p:nvSpPr>
        <p:spPr/>
        <p:txBody>
          <a:bodyPr/>
          <a:lstStyle/>
          <a:p>
            <a:r>
              <a:rPr lang="en-US" altLang="zh-CN" dirty="0" smtClean="0"/>
              <a:t>Definition (Software Process Improvement)</a:t>
            </a:r>
          </a:p>
          <a:p>
            <a:r>
              <a:rPr lang="en-US" altLang="zh-CN" dirty="0" smtClean="0"/>
              <a:t>A program of activities designed to improve the performance and maturity of the organization’s software processes and the results of such a program.</a:t>
            </a:r>
            <a:endParaRPr lang="zh-CN" altLang="en-US" dirty="0"/>
          </a:p>
        </p:txBody>
      </p:sp>
    </p:spTree>
    <p:extLst>
      <p:ext uri="{BB962C8B-B14F-4D97-AF65-F5344CB8AC3E}">
        <p14:creationId xmlns:p14="http://schemas.microsoft.com/office/powerpoint/2010/main" val="1067191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1.3. Terminology</a:t>
            </a:r>
            <a:endParaRPr lang="zh-CN" altLang="en-US" dirty="0"/>
          </a:p>
        </p:txBody>
      </p:sp>
      <p:sp>
        <p:nvSpPr>
          <p:cNvPr id="3" name="内容占位符 2"/>
          <p:cNvSpPr>
            <a:spLocks noGrp="1"/>
          </p:cNvSpPr>
          <p:nvPr>
            <p:ph idx="1"/>
          </p:nvPr>
        </p:nvSpPr>
        <p:spPr/>
        <p:txBody>
          <a:bodyPr/>
          <a:lstStyle/>
          <a:p>
            <a:r>
              <a:rPr lang="en-US" altLang="zh-CN" dirty="0" smtClean="0"/>
              <a:t>Definition (project)</a:t>
            </a:r>
          </a:p>
          <a:p>
            <a:r>
              <a:rPr lang="en-US" altLang="zh-CN" dirty="0" smtClean="0"/>
              <a:t>A project is a unique endeavor, which is limited by a start date and an end date and should achieve a goal.</a:t>
            </a:r>
            <a:endParaRPr lang="zh-CN" altLang="en-US" dirty="0" smtClean="0"/>
          </a:p>
          <a:p>
            <a:endParaRPr lang="zh-CN" altLang="en-US" dirty="0"/>
          </a:p>
        </p:txBody>
      </p:sp>
    </p:spTree>
    <p:extLst>
      <p:ext uri="{BB962C8B-B14F-4D97-AF65-F5344CB8AC3E}">
        <p14:creationId xmlns:p14="http://schemas.microsoft.com/office/powerpoint/2010/main" val="22079824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1.3. Terminology</a:t>
            </a:r>
            <a:endParaRPr lang="zh-CN" altLang="en-US" dirty="0"/>
          </a:p>
        </p:txBody>
      </p:sp>
      <p:sp>
        <p:nvSpPr>
          <p:cNvPr id="3" name="内容占位符 2"/>
          <p:cNvSpPr>
            <a:spLocks noGrp="1"/>
          </p:cNvSpPr>
          <p:nvPr>
            <p:ph idx="1"/>
          </p:nvPr>
        </p:nvSpPr>
        <p:spPr/>
        <p:txBody>
          <a:bodyPr/>
          <a:lstStyle/>
          <a:p>
            <a:r>
              <a:rPr lang="en-US" altLang="zh-CN" dirty="0" smtClean="0"/>
              <a:t>Definition (project phase)</a:t>
            </a:r>
          </a:p>
          <a:p>
            <a:r>
              <a:rPr lang="en-US" altLang="zh-CN" dirty="0" smtClean="0"/>
              <a:t> A project phase (short: phase) is a collection of logically separated project activities, usually culminating in the completion of a major deliverable or the achievement of a major milestone.</a:t>
            </a:r>
            <a:endParaRPr lang="zh-CN" altLang="en-US" dirty="0"/>
          </a:p>
        </p:txBody>
      </p:sp>
    </p:spTree>
    <p:extLst>
      <p:ext uri="{BB962C8B-B14F-4D97-AF65-F5344CB8AC3E}">
        <p14:creationId xmlns:p14="http://schemas.microsoft.com/office/powerpoint/2010/main" val="14528411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dirty="0" smtClean="0"/>
              <a:t>1.3. Terminology</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smtClean="0"/>
              <a:t>Typical characteristics of project phases </a:t>
            </a:r>
            <a:endParaRPr lang="zh-CN" altLang="en-US" dirty="0" smtClean="0"/>
          </a:p>
          <a:p>
            <a:pPr marL="400050" lvl="1" indent="0">
              <a:buNone/>
            </a:pPr>
            <a:r>
              <a:rPr lang="en-US" altLang="zh-CN" dirty="0" smtClean="0"/>
              <a:t>– Phases are mainly completed sequentially, but can overlap in some project situations</a:t>
            </a:r>
          </a:p>
          <a:p>
            <a:pPr marL="400050" lvl="1" indent="0">
              <a:buNone/>
            </a:pPr>
            <a:r>
              <a:rPr lang="en-US" altLang="zh-CN" dirty="0" smtClean="0"/>
              <a:t>– Phases can be subdivided into </a:t>
            </a:r>
            <a:r>
              <a:rPr lang="en-US" altLang="zh-CN" dirty="0" err="1" smtClean="0"/>
              <a:t>subphases</a:t>
            </a:r>
            <a:endParaRPr lang="en-US" altLang="zh-CN" dirty="0" smtClean="0"/>
          </a:p>
          <a:p>
            <a:pPr marL="400050" lvl="1" indent="0">
              <a:buNone/>
            </a:pPr>
            <a:r>
              <a:rPr lang="en-US" altLang="zh-CN" dirty="0" smtClean="0"/>
              <a:t>– Unlike a process, a phase is always defined by a start date and an end date. If this period is finished, the phase is finished. Typically, processes can be activated multiple times</a:t>
            </a:r>
          </a:p>
          <a:p>
            <a:pPr marL="400050" lvl="1" indent="0">
              <a:buNone/>
            </a:pPr>
            <a:r>
              <a:rPr lang="en-US" altLang="zh-CN" dirty="0" smtClean="0"/>
              <a:t>– Typical examples of phases are the elaboration phase, the construction phase, or the transition phase. Phases are usually used when looking at a project from a management perspective</a:t>
            </a:r>
            <a:endParaRPr lang="zh-CN" altLang="en-US" dirty="0"/>
          </a:p>
        </p:txBody>
      </p:sp>
    </p:spTree>
    <p:extLst>
      <p:ext uri="{BB962C8B-B14F-4D97-AF65-F5344CB8AC3E}">
        <p14:creationId xmlns:p14="http://schemas.microsoft.com/office/powerpoint/2010/main" val="7651611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1.3. Terminology</a:t>
            </a:r>
            <a:endParaRPr lang="zh-CN" altLang="en-US" dirty="0"/>
          </a:p>
        </p:txBody>
      </p:sp>
      <p:sp>
        <p:nvSpPr>
          <p:cNvPr id="3" name="内容占位符 2"/>
          <p:cNvSpPr>
            <a:spLocks noGrp="1"/>
          </p:cNvSpPr>
          <p:nvPr>
            <p:ph idx="1"/>
          </p:nvPr>
        </p:nvSpPr>
        <p:spPr/>
        <p:txBody>
          <a:bodyPr/>
          <a:lstStyle/>
          <a:p>
            <a:r>
              <a:rPr lang="en-US" altLang="zh-CN" dirty="0" smtClean="0"/>
              <a:t>Definition (model)</a:t>
            </a:r>
          </a:p>
          <a:p>
            <a:r>
              <a:rPr lang="en-US" altLang="zh-CN" dirty="0" smtClean="0"/>
              <a:t>A model is an abstract and simplifying representation of an object or phenomenon of the real world.</a:t>
            </a:r>
            <a:endParaRPr lang="zh-CN" altLang="en-US" dirty="0"/>
          </a:p>
        </p:txBody>
      </p:sp>
    </p:spTree>
    <p:extLst>
      <p:ext uri="{BB962C8B-B14F-4D97-AF65-F5344CB8AC3E}">
        <p14:creationId xmlns:p14="http://schemas.microsoft.com/office/powerpoint/2010/main" val="21792749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r>
              <a:rPr lang="en-US" altLang="zh-CN" dirty="0" smtClean="0"/>
              <a:t>1.3. Terminology</a:t>
            </a:r>
            <a:endParaRPr lang="zh-CN" altLang="en-US" dirty="0"/>
          </a:p>
        </p:txBody>
      </p:sp>
      <p:sp>
        <p:nvSpPr>
          <p:cNvPr id="5" name="内容占位符 4"/>
          <p:cNvSpPr>
            <a:spLocks noGrp="1"/>
          </p:cNvSpPr>
          <p:nvPr>
            <p:ph idx="1"/>
          </p:nvPr>
        </p:nvSpPr>
        <p:spPr/>
        <p:txBody>
          <a:bodyPr/>
          <a:lstStyle/>
          <a:p>
            <a:r>
              <a:rPr lang="en-US" altLang="zh-CN" dirty="0" smtClean="0"/>
              <a:t>Definition (software process model)</a:t>
            </a:r>
          </a:p>
          <a:p>
            <a:r>
              <a:rPr lang="en-US" altLang="zh-CN" dirty="0" smtClean="0"/>
              <a:t> A software process model(short: process model) is a model of a software process.</a:t>
            </a:r>
            <a:endParaRPr lang="zh-CN" altLang="en-US" dirty="0"/>
          </a:p>
        </p:txBody>
      </p:sp>
    </p:spTree>
    <p:extLst>
      <p:ext uri="{BB962C8B-B14F-4D97-AF65-F5344CB8AC3E}">
        <p14:creationId xmlns:p14="http://schemas.microsoft.com/office/powerpoint/2010/main" val="7298148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dirty="0" smtClean="0"/>
              <a:t>1.4 Software Process Modeling and Improvement</a:t>
            </a:r>
            <a:endParaRPr lang="zh-CN" altLang="en-US" dirty="0"/>
          </a:p>
        </p:txBody>
      </p:sp>
      <p:sp>
        <p:nvSpPr>
          <p:cNvPr id="3" name="内容占位符 2"/>
          <p:cNvSpPr>
            <a:spLocks noGrp="1"/>
          </p:cNvSpPr>
          <p:nvPr>
            <p:ph idx="1"/>
          </p:nvPr>
        </p:nvSpPr>
        <p:spPr/>
        <p:txBody>
          <a:bodyPr/>
          <a:lstStyle/>
          <a:p>
            <a:r>
              <a:rPr lang="en-US" altLang="zh-CN" dirty="0" smtClean="0"/>
              <a:t>Choosing appropriate process models and tailoring them for a specific project and development environment is important and requires sufficient understanding of the effects of the processes in this very environment.</a:t>
            </a:r>
            <a:endParaRPr lang="zh-CN" altLang="en-US" dirty="0"/>
          </a:p>
        </p:txBody>
      </p:sp>
    </p:spTree>
    <p:extLst>
      <p:ext uri="{BB962C8B-B14F-4D97-AF65-F5344CB8AC3E}">
        <p14:creationId xmlns:p14="http://schemas.microsoft.com/office/powerpoint/2010/main" val="26604751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dirty="0" smtClean="0"/>
              <a:t>1.4 Software Process Modeling and Improvement</a:t>
            </a:r>
            <a:endParaRPr lang="zh-CN" altLang="en-US" dirty="0"/>
          </a:p>
        </p:txBody>
      </p:sp>
      <p:sp>
        <p:nvSpPr>
          <p:cNvPr id="3" name="内容占位符 2"/>
          <p:cNvSpPr>
            <a:spLocks noGrp="1"/>
          </p:cNvSpPr>
          <p:nvPr>
            <p:ph idx="1"/>
          </p:nvPr>
        </p:nvSpPr>
        <p:spPr/>
        <p:txBody>
          <a:bodyPr>
            <a:normAutofit fontScale="92500"/>
          </a:bodyPr>
          <a:lstStyle/>
          <a:p>
            <a:r>
              <a:rPr lang="en-US" altLang="zh-CN" dirty="0" smtClean="0"/>
              <a:t>Software process improvement allows companies to mature their software engineering processes and to achieve their business goals more effectively. </a:t>
            </a:r>
          </a:p>
          <a:p>
            <a:r>
              <a:rPr lang="en-US" altLang="zh-CN" dirty="0" smtClean="0"/>
              <a:t>It helps software companies to deliver the agreed software on time and on budget, as well as improving the quality of the delivered software, reducing the cost of development, and improving customer satisfaction with the software.</a:t>
            </a:r>
            <a:endParaRPr lang="zh-CN" altLang="en-US" dirty="0"/>
          </a:p>
        </p:txBody>
      </p:sp>
    </p:spTree>
    <p:extLst>
      <p:ext uri="{BB962C8B-B14F-4D97-AF65-F5344CB8AC3E}">
        <p14:creationId xmlns:p14="http://schemas.microsoft.com/office/powerpoint/2010/main" val="7894688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04664"/>
            <a:ext cx="8229600" cy="1143000"/>
          </a:xfrm>
        </p:spPr>
        <p:txBody>
          <a:bodyPr>
            <a:normAutofit fontScale="90000"/>
          </a:bodyPr>
          <a:lstStyle/>
          <a:p>
            <a:pPr algn="l"/>
            <a:r>
              <a:rPr lang="en-US" altLang="zh-CN" dirty="0" smtClean="0"/>
              <a:t/>
            </a:r>
            <a:br>
              <a:rPr lang="en-US" altLang="zh-CN" dirty="0" smtClean="0"/>
            </a:br>
            <a:r>
              <a:rPr lang="en-US" altLang="zh-CN" dirty="0" smtClean="0"/>
              <a:t>1.5 Process Modeling-- Goals and Benefits</a:t>
            </a:r>
            <a:br>
              <a:rPr lang="en-US" altLang="zh-CN" dirty="0" smtClean="0"/>
            </a:br>
            <a:endParaRPr lang="zh-CN" altLang="en-US" dirty="0"/>
          </a:p>
        </p:txBody>
      </p:sp>
      <p:sp>
        <p:nvSpPr>
          <p:cNvPr id="3" name="内容占位符 2"/>
          <p:cNvSpPr>
            <a:spLocks noGrp="1"/>
          </p:cNvSpPr>
          <p:nvPr>
            <p:ph idx="1"/>
          </p:nvPr>
        </p:nvSpPr>
        <p:spPr/>
        <p:txBody>
          <a:bodyPr/>
          <a:lstStyle/>
          <a:p>
            <a:r>
              <a:rPr lang="en-US" altLang="zh-CN" dirty="0" smtClean="0"/>
              <a:t>basic objectives for software process modeling</a:t>
            </a:r>
          </a:p>
          <a:p>
            <a:pPr lvl="1"/>
            <a:r>
              <a:rPr lang="en-US" altLang="zh-CN" dirty="0" smtClean="0"/>
              <a:t> Facilitate human understanding and communication</a:t>
            </a:r>
          </a:p>
          <a:p>
            <a:pPr lvl="1"/>
            <a:r>
              <a:rPr lang="en-US" altLang="zh-CN" dirty="0" smtClean="0"/>
              <a:t> Support process improvement</a:t>
            </a:r>
          </a:p>
          <a:p>
            <a:pPr lvl="1"/>
            <a:r>
              <a:rPr lang="en-US" altLang="zh-CN" dirty="0" smtClean="0"/>
              <a:t> Support process management</a:t>
            </a:r>
          </a:p>
          <a:p>
            <a:pPr lvl="1"/>
            <a:r>
              <a:rPr lang="en-US" altLang="zh-CN" dirty="0" smtClean="0"/>
              <a:t> Provide automated guidance in performing process</a:t>
            </a:r>
          </a:p>
          <a:p>
            <a:pPr lvl="1"/>
            <a:r>
              <a:rPr lang="en-US" altLang="zh-CN" dirty="0" smtClean="0"/>
              <a:t> Provide automated execution support</a:t>
            </a:r>
            <a:endParaRPr lang="zh-CN" altLang="en-US" dirty="0"/>
          </a:p>
        </p:txBody>
      </p:sp>
    </p:spTree>
    <p:extLst>
      <p:ext uri="{BB962C8B-B14F-4D97-AF65-F5344CB8AC3E}">
        <p14:creationId xmlns:p14="http://schemas.microsoft.com/office/powerpoint/2010/main" val="19833863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dirty="0" smtClean="0"/>
              <a:t>1.5 Process Modeling --Goals and Benefits</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smtClean="0"/>
              <a:t>the following benefits are expected from systematic process modeling:</a:t>
            </a:r>
          </a:p>
          <a:p>
            <a:pPr marL="400050" lvl="1" indent="0">
              <a:buNone/>
            </a:pPr>
            <a:r>
              <a:rPr lang="en-US" altLang="zh-CN" dirty="0" smtClean="0"/>
              <a:t>– Better transparency of software engineering activities</a:t>
            </a:r>
          </a:p>
          <a:p>
            <a:pPr marL="400050" lvl="1" indent="0">
              <a:buNone/>
            </a:pPr>
            <a:r>
              <a:rPr lang="en-US" altLang="zh-CN" dirty="0" smtClean="0"/>
              <a:t>– Reduced complexity of large development efforts</a:t>
            </a:r>
          </a:p>
          <a:p>
            <a:pPr marL="400050" lvl="1" indent="0">
              <a:buNone/>
            </a:pPr>
            <a:r>
              <a:rPr lang="en-US" altLang="zh-CN" dirty="0" smtClean="0"/>
              <a:t>– The ability to perform process</a:t>
            </a:r>
          </a:p>
          <a:p>
            <a:pPr marL="400050" lvl="1" indent="0">
              <a:buNone/>
            </a:pPr>
            <a:r>
              <a:rPr lang="en-US" altLang="zh-CN" dirty="0" smtClean="0"/>
              <a:t>– The ability to undergo process assessments</a:t>
            </a:r>
          </a:p>
          <a:p>
            <a:pPr marL="400050" lvl="1" indent="0">
              <a:buNone/>
            </a:pPr>
            <a:r>
              <a:rPr lang="en-US" altLang="zh-CN" dirty="0" smtClean="0"/>
              <a:t>– Predictability with respect to the process characteristics and the characteristics of the results is only achievable with explicit models</a:t>
            </a:r>
            <a:endParaRPr lang="zh-CN" altLang="en-US" dirty="0"/>
          </a:p>
        </p:txBody>
      </p:sp>
    </p:spTree>
    <p:extLst>
      <p:ext uri="{BB962C8B-B14F-4D97-AF65-F5344CB8AC3E}">
        <p14:creationId xmlns:p14="http://schemas.microsoft.com/office/powerpoint/2010/main" val="17300330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gn="l"/>
            <a:r>
              <a:rPr lang="en-US" altLang="zh-CN" sz="4000" dirty="0" smtClean="0"/>
              <a:t>1.6 Process Improvement-- Benefits</a:t>
            </a:r>
            <a:r>
              <a:rPr lang="zh-CN" altLang="en-US" sz="4000" dirty="0" smtClean="0"/>
              <a:t/>
            </a:r>
            <a:br>
              <a:rPr lang="zh-CN" altLang="en-US" sz="4000" dirty="0" smtClean="0"/>
            </a:br>
            <a:r>
              <a:rPr lang="en-US" altLang="zh-CN" sz="4000" dirty="0" smtClean="0"/>
              <a:t>and Models</a:t>
            </a:r>
            <a:endParaRPr lang="zh-CN" altLang="en-US" sz="4000" dirty="0"/>
          </a:p>
        </p:txBody>
      </p:sp>
      <p:sp>
        <p:nvSpPr>
          <p:cNvPr id="3" name="内容占位符 2"/>
          <p:cNvSpPr>
            <a:spLocks noGrp="1"/>
          </p:cNvSpPr>
          <p:nvPr>
            <p:ph idx="1"/>
          </p:nvPr>
        </p:nvSpPr>
        <p:spPr/>
        <p:txBody>
          <a:bodyPr>
            <a:normAutofit fontScale="92500" lnSpcReduction="10000"/>
          </a:bodyPr>
          <a:lstStyle/>
          <a:p>
            <a:r>
              <a:rPr lang="en-US" altLang="zh-CN" dirty="0" smtClean="0"/>
              <a:t>the benefits from software process improvement include:</a:t>
            </a:r>
          </a:p>
          <a:p>
            <a:pPr lvl="1"/>
            <a:r>
              <a:rPr lang="en-US" altLang="zh-CN" dirty="0" smtClean="0"/>
              <a:t>Improvements to quality</a:t>
            </a:r>
          </a:p>
          <a:p>
            <a:pPr lvl="1"/>
            <a:r>
              <a:rPr lang="en-US" altLang="zh-CN" dirty="0" smtClean="0"/>
              <a:t>Reductions in the cost of poor quality</a:t>
            </a:r>
          </a:p>
          <a:p>
            <a:pPr lvl="1"/>
            <a:r>
              <a:rPr lang="en-US" altLang="zh-CN" dirty="0" smtClean="0"/>
              <a:t>Improvements in productivity</a:t>
            </a:r>
          </a:p>
          <a:p>
            <a:pPr lvl="1"/>
            <a:r>
              <a:rPr lang="en-US" altLang="zh-CN" dirty="0" smtClean="0"/>
              <a:t>Reductions to the cost of software development</a:t>
            </a:r>
          </a:p>
          <a:p>
            <a:pPr lvl="1"/>
            <a:r>
              <a:rPr lang="en-US" altLang="zh-CN" dirty="0" smtClean="0"/>
              <a:t>Improvements to on-time delivery</a:t>
            </a:r>
          </a:p>
          <a:p>
            <a:pPr lvl="1"/>
            <a:r>
              <a:rPr lang="en-US" altLang="zh-CN" dirty="0" smtClean="0"/>
              <a:t>Improved consistency in budget and schedule delivery</a:t>
            </a:r>
          </a:p>
          <a:p>
            <a:pPr lvl="1"/>
            <a:r>
              <a:rPr lang="en-US" altLang="zh-CN" dirty="0" smtClean="0"/>
              <a:t>Improvements to customer satisfaction</a:t>
            </a:r>
          </a:p>
          <a:p>
            <a:pPr lvl="1"/>
            <a:r>
              <a:rPr lang="en-US" altLang="zh-CN" dirty="0" smtClean="0"/>
              <a:t>Improvements to employee morale</a:t>
            </a:r>
            <a:endParaRPr lang="zh-CN" altLang="en-US" dirty="0"/>
          </a:p>
        </p:txBody>
      </p:sp>
    </p:spTree>
    <p:extLst>
      <p:ext uri="{BB962C8B-B14F-4D97-AF65-F5344CB8AC3E}">
        <p14:creationId xmlns:p14="http://schemas.microsoft.com/office/powerpoint/2010/main" val="14974916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dirty="0" smtClean="0"/>
              <a:t>1.6 Process Improvement --Benefits</a:t>
            </a:r>
            <a:r>
              <a:rPr lang="zh-CN" altLang="en-US" dirty="0" smtClean="0"/>
              <a:t/>
            </a:r>
            <a:br>
              <a:rPr lang="zh-CN" altLang="en-US" dirty="0" smtClean="0"/>
            </a:br>
            <a:r>
              <a:rPr lang="en-US" altLang="zh-CN" dirty="0" smtClean="0"/>
              <a:t>and Models</a:t>
            </a:r>
            <a:endParaRPr lang="zh-CN" altLang="en-US" dirty="0"/>
          </a:p>
        </p:txBody>
      </p:sp>
      <p:sp>
        <p:nvSpPr>
          <p:cNvPr id="3" name="内容占位符 2"/>
          <p:cNvSpPr>
            <a:spLocks noGrp="1"/>
          </p:cNvSpPr>
          <p:nvPr>
            <p:ph idx="1"/>
          </p:nvPr>
        </p:nvSpPr>
        <p:spPr/>
        <p:txBody>
          <a:bodyPr>
            <a:normAutofit fontScale="92500"/>
          </a:bodyPr>
          <a:lstStyle/>
          <a:p>
            <a:r>
              <a:rPr lang="en-US" altLang="zh-CN" dirty="0" smtClean="0"/>
              <a:t>Models Used in Software Process Improvement:</a:t>
            </a:r>
          </a:p>
          <a:p>
            <a:pPr lvl="1"/>
            <a:r>
              <a:rPr lang="en-US" altLang="zh-CN" dirty="0" smtClean="0"/>
              <a:t>Capability Maturity Model Integration (CMMI)</a:t>
            </a:r>
          </a:p>
          <a:p>
            <a:pPr lvl="1"/>
            <a:r>
              <a:rPr lang="en-US" altLang="zh-CN" dirty="0" smtClean="0"/>
              <a:t>ISO 9001 Standard</a:t>
            </a:r>
          </a:p>
          <a:p>
            <a:pPr lvl="1"/>
            <a:r>
              <a:rPr lang="en-US" altLang="zh-CN" dirty="0" smtClean="0"/>
              <a:t>ISO 15504</a:t>
            </a:r>
          </a:p>
          <a:p>
            <a:pPr lvl="1"/>
            <a:r>
              <a:rPr lang="en-US" altLang="zh-CN" dirty="0" smtClean="0"/>
              <a:t>PSP and TSP</a:t>
            </a:r>
          </a:p>
          <a:p>
            <a:pPr lvl="1"/>
            <a:r>
              <a:rPr lang="en-US" altLang="zh-CN" dirty="0" smtClean="0"/>
              <a:t>Six Sigma</a:t>
            </a:r>
          </a:p>
          <a:p>
            <a:pPr lvl="1"/>
            <a:r>
              <a:rPr lang="en-US" altLang="zh-CN" dirty="0" smtClean="0"/>
              <a:t>IEEE standards</a:t>
            </a:r>
          </a:p>
          <a:p>
            <a:pPr lvl="1"/>
            <a:r>
              <a:rPr lang="en-US" altLang="zh-CN" dirty="0" smtClean="0"/>
              <a:t>Root Cause Analysis</a:t>
            </a:r>
          </a:p>
          <a:p>
            <a:pPr lvl="1"/>
            <a:r>
              <a:rPr lang="en-US" altLang="zh-CN" dirty="0" smtClean="0"/>
              <a:t>Balanced Scorecard</a:t>
            </a:r>
            <a:endParaRPr lang="zh-CN" altLang="en-US" dirty="0"/>
          </a:p>
        </p:txBody>
      </p:sp>
    </p:spTree>
    <p:extLst>
      <p:ext uri="{BB962C8B-B14F-4D97-AF65-F5344CB8AC3E}">
        <p14:creationId xmlns:p14="http://schemas.microsoft.com/office/powerpoint/2010/main" val="28997267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TotalTime>
  <Words>1195</Words>
  <Application>Microsoft Office PowerPoint</Application>
  <PresentationFormat>全屏显示(4:3)</PresentationFormat>
  <Paragraphs>133</Paragraphs>
  <Slides>27</Slides>
  <Notes>0</Notes>
  <HiddenSlides>0</HiddenSlides>
  <MMClips>0</MMClips>
  <ScaleCrop>false</ScaleCrop>
  <HeadingPairs>
    <vt:vector size="4" baseType="variant">
      <vt:variant>
        <vt:lpstr>主题</vt:lpstr>
      </vt:variant>
      <vt:variant>
        <vt:i4>1</vt:i4>
      </vt:variant>
      <vt:variant>
        <vt:lpstr>幻灯片标题</vt:lpstr>
      </vt:variant>
      <vt:variant>
        <vt:i4>27</vt:i4>
      </vt:variant>
    </vt:vector>
  </HeadingPairs>
  <TitlesOfParts>
    <vt:vector size="28" baseType="lpstr">
      <vt:lpstr>Office 主题​​</vt:lpstr>
      <vt:lpstr>Software Process Technology</vt:lpstr>
      <vt:lpstr>Score percentage</vt:lpstr>
      <vt:lpstr>task1</vt:lpstr>
      <vt:lpstr>Ch1. Introduction</vt:lpstr>
      <vt:lpstr>1.1 Objectives of This Chapter</vt:lpstr>
      <vt:lpstr>1.2 Motivation</vt:lpstr>
      <vt:lpstr>1.2 Motivation</vt:lpstr>
      <vt:lpstr>1.2 Motivation</vt:lpstr>
      <vt:lpstr>1.2 Motivation</vt:lpstr>
      <vt:lpstr>1.2 Motivation</vt:lpstr>
      <vt:lpstr>1.2 Motivation</vt:lpstr>
      <vt:lpstr>PowerPoint 演示文稿</vt:lpstr>
      <vt:lpstr>PowerPoint 演示文稿</vt:lpstr>
      <vt:lpstr>1.3. Terminology</vt:lpstr>
      <vt:lpstr>1.3. Terminology</vt:lpstr>
      <vt:lpstr>1.3. Terminology</vt:lpstr>
      <vt:lpstr>1.3. Terminology</vt:lpstr>
      <vt:lpstr>1.3. Terminology</vt:lpstr>
      <vt:lpstr>1.3. Terminology</vt:lpstr>
      <vt:lpstr>1.3. Terminology</vt:lpstr>
      <vt:lpstr>1.3. Terminology</vt:lpstr>
      <vt:lpstr>1.4 Software Process Modeling and Improvement</vt:lpstr>
      <vt:lpstr>1.4 Software Process Modeling and Improvement</vt:lpstr>
      <vt:lpstr> 1.5 Process Modeling-- Goals and Benefits </vt:lpstr>
      <vt:lpstr>1.5 Process Modeling --Goals and Benefits</vt:lpstr>
      <vt:lpstr>1.6 Process Improvement-- Benefits and Models</vt:lpstr>
      <vt:lpstr>1.6 Process Improvement --Benefits and Models</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 Technology</dc:title>
  <dc:creator>dell</dc:creator>
  <cp:lastModifiedBy>微软用户</cp:lastModifiedBy>
  <cp:revision>12</cp:revision>
  <dcterms:created xsi:type="dcterms:W3CDTF">2017-09-14T01:31:15Z</dcterms:created>
  <dcterms:modified xsi:type="dcterms:W3CDTF">2017-09-15T07:30:15Z</dcterms:modified>
</cp:coreProperties>
</file>